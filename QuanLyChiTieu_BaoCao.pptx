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4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1874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669280" cy="5669280"/>
          </a:xfrm>
          <a:prstGeom prst="ellipse">
            <a:avLst/>
          </a:prstGeom>
          <a:solidFill>
            <a:srgbClr val="1D4ED8">
              <a:alpha val="28000"/>
            </a:srgbClr>
          </a:solidFill>
          <a:ln/>
        </p:spPr>
        <p:txBody>
          <a:bodyPr/>
          <a:lstStyle/>
          <a:p>
            <a:r>
              <a:rPr lang="vi-VN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Đình Tuấn – Tô Thị Thủy – Nguyễn Kiều Anh Tuấn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9966960" y="3108960"/>
            <a:ext cx="4572000" cy="4572000"/>
          </a:xfrm>
          <a:prstGeom prst="ellipse">
            <a:avLst/>
          </a:prstGeom>
          <a:solidFill>
            <a:srgbClr val="FB8C2E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868680"/>
            <a:ext cx="1051560" cy="1051560"/>
          </a:xfrm>
          <a:prstGeom prst="roundRect">
            <a:avLst>
              <a:gd name="adj" fmla="val 28000"/>
            </a:avLst>
          </a:prstGeom>
          <a:solidFill>
            <a:srgbClr val="FB8C2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054" y="1121054"/>
            <a:ext cx="546811" cy="5468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QUẢN LÝ TÀI CHÍNH CÁ NHÂN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1488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F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ngân sách theo phương pháp Zero-Based Budgeting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QUẢN LÝ CHI TIÊU</a:t>
            </a:r>
            <a:endParaRPr lang="en-US" sz="6200" dirty="0"/>
          </a:p>
        </p:txBody>
      </p:sp>
      <p:sp>
        <p:nvSpPr>
          <p:cNvPr id="10" name="Text 7"/>
          <p:cNvSpPr/>
          <p:nvPr/>
        </p:nvSpPr>
        <p:spPr>
          <a:xfrm>
            <a:off x="8686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thu chi, lập ngân sách thông minh và đạt mục tiêu tài chính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68680" y="498348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13294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49834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đồng đều có việc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931920" y="4983480"/>
            <a:ext cx="2711196" cy="502920"/>
          </a:xfrm>
          <a:prstGeom prst="roundRect">
            <a:avLst>
              <a:gd name="adj" fmla="val 49091"/>
            </a:avLst>
          </a:prstGeom>
          <a:solidFill>
            <a:srgbClr val="13294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931920" y="4983480"/>
            <a:ext cx="27111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Phong bì cuốn chiếu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71716" y="4983480"/>
            <a:ext cx="2464308" cy="502920"/>
          </a:xfrm>
          <a:prstGeom prst="roundRect">
            <a:avLst>
              <a:gd name="adj" fmla="val 49091"/>
            </a:avLst>
          </a:prstGeom>
          <a:solidFill>
            <a:srgbClr val="13294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71716" y="4983480"/>
            <a:ext cx="24643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chi tiêu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564624" y="4983480"/>
            <a:ext cx="2587752" cy="502920"/>
          </a:xfrm>
          <a:prstGeom prst="roundRect">
            <a:avLst>
              <a:gd name="adj" fmla="val 49091"/>
            </a:avLst>
          </a:prstGeom>
          <a:solidFill>
            <a:srgbClr val="13294B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564624" y="4983480"/>
            <a:ext cx="2587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tiết kiệm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vi-VN" sz="135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Đình Tuấn – Tô Thị Thủy – Nguyễn Kiều Anh Tuấn</a:t>
            </a:r>
            <a:endParaRPr lang="en-US" sz="13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298155C-46DC-EA32-101F-8AB134BF67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2808" y="502920"/>
            <a:ext cx="2328672" cy="232867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57595E9-F9E6-382C-0359-BFC29BDE25AF}"/>
              </a:ext>
            </a:extLst>
          </p:cNvPr>
          <p:cNvSpPr txBox="1"/>
          <p:nvPr/>
        </p:nvSpPr>
        <p:spPr>
          <a:xfrm>
            <a:off x="9790938" y="130278"/>
            <a:ext cx="1949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vi-VN" sz="18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</a:t>
            </a:r>
            <a:r>
              <a:rPr lang="vi-VN" sz="1800" dirty="0" err="1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r>
              <a:rPr lang="vi-VN" sz="18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tải </a:t>
            </a:r>
            <a:r>
              <a:rPr lang="vi-VN" sz="1800" dirty="0" err="1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B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&amp; GIẢI PHÁP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Vì sao cần một ứng dụng chi tiêu?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spcAft>
                <a:spcPts val="12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người chi tiêu theo cảm tính, cuối tháng mới giật mình vì hết tiền mà không rõ tiền đã đi đâu.</a:t>
            </a:r>
            <a:endParaRPr lang="en-US" sz="1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chép thủ công rời rạc, thiếu kế hoạch cho từng khoản và không có cái nhìn tổng thể về dòng tiền.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0" y="1600200"/>
            <a:ext cx="51206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0" y="1847088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132" y="1987540"/>
            <a:ext cx="304312" cy="3043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33488" y="17647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Lập kế hoạch trước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333488" y="2112264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thu nhập cho từng nhóm chi ngay từ đầu tháng.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0" y="2825496"/>
            <a:ext cx="51206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83680" y="3072384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FB8C2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132" y="3212836"/>
            <a:ext cx="304312" cy="304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33488" y="29900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Nhìn rõ dòng tiền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333488" y="3337560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 cáo biểu đồ + điểm sức khỏe tài chính trực quan.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0" y="4050792"/>
            <a:ext cx="512064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583680" y="4297680"/>
            <a:ext cx="585216" cy="585216"/>
          </a:xfrm>
          <a:prstGeom prst="roundRect">
            <a:avLst>
              <a:gd name="adj" fmla="val 28000"/>
            </a:avLst>
          </a:prstGeom>
          <a:solidFill>
            <a:srgbClr val="22C55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132" y="4438132"/>
            <a:ext cx="304312" cy="304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33488" y="421538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Tiết kiệm có mục tiêu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7333488" y="4562856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mục tiêu, thử thách và theo dõi tiến độ tự động.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4069080"/>
            <a:ext cx="5486400" cy="2194560"/>
          </a:xfrm>
          <a:prstGeom prst="roundRect">
            <a:avLst>
              <a:gd name="adj" fmla="val 5833"/>
            </a:avLst>
          </a:prstGeom>
          <a:solidFill>
            <a:srgbClr val="0E1E40"/>
          </a:solidFill>
          <a:ln/>
          <a:effectLst>
            <a:outerShdw blurRad="114300" dist="38100" dir="5400000" algn="bl" rotWithShape="0">
              <a:srgbClr val="0E1E4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91440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GIÚP BẠN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914400" y="468172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3400" dirty="0"/>
          </a:p>
        </p:txBody>
      </p:sp>
      <p:sp>
        <p:nvSpPr>
          <p:cNvPr id="23" name="Text 18"/>
          <p:cNvSpPr/>
          <p:nvPr/>
        </p:nvSpPr>
        <p:spPr>
          <a:xfrm>
            <a:off x="914400" y="5394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nhập được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rõ ràng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2651760" y="468172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0đ</a:t>
            </a:r>
            <a:endParaRPr lang="en-US" sz="3400" dirty="0"/>
          </a:p>
        </p:txBody>
      </p:sp>
      <p:sp>
        <p:nvSpPr>
          <p:cNvPr id="25" name="Text 20"/>
          <p:cNvSpPr/>
          <p:nvPr/>
        </p:nvSpPr>
        <p:spPr>
          <a:xfrm>
            <a:off x="2651760" y="5394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“mồ côi”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mục đích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389120" y="4681728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24/7</a:t>
            </a:r>
            <a:endParaRPr lang="en-US" sz="3400" dirty="0"/>
          </a:p>
        </p:txBody>
      </p:sp>
      <p:sp>
        <p:nvSpPr>
          <p:cNvPr id="27" name="Text 22"/>
          <p:cNvSpPr/>
          <p:nvPr/>
        </p:nvSpPr>
        <p:spPr>
          <a:xfrm>
            <a:off x="4389120" y="53949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số dư</a:t>
            </a:r>
            <a:endParaRPr lang="en-US" sz="11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tức thì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B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KHÁC BIỆT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Zero-Based Budgeting — “mỗi đồng đều có việc”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5029200" cy="4526280"/>
          </a:xfrm>
          <a:prstGeom prst="roundRect">
            <a:avLst>
              <a:gd name="adj" fmla="val 3232"/>
            </a:avLst>
          </a:prstGeom>
          <a:solidFill>
            <a:srgbClr val="0E1E40"/>
          </a:solidFill>
          <a:ln/>
          <a:effectLst>
            <a:outerShdw blurRad="114300" dist="38100" dir="5400000" algn="bl" rotWithShape="0">
              <a:srgbClr val="0E1E4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105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B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HOẠT ĐỘNG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2212848"/>
            <a:ext cx="4480560" cy="603504"/>
          </a:xfrm>
          <a:prstGeom prst="roundRect">
            <a:avLst>
              <a:gd name="adj" fmla="val 15152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THU NHẬP THÁNG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154680" y="2834640"/>
            <a:ext cx="0" cy="201168"/>
          </a:xfrm>
          <a:prstGeom prst="line">
            <a:avLst/>
          </a:prstGeom>
          <a:noFill/>
          <a:ln w="25400">
            <a:solidFill>
              <a:srgbClr val="DBEA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127248"/>
            <a:ext cx="1033272" cy="91440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327355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8680" y="3639312"/>
            <a:ext cx="1124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yếu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14423" y="3127248"/>
            <a:ext cx="1033272" cy="91440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467" y="327355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68703" y="3639312"/>
            <a:ext cx="1124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thiết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114446" y="3127248"/>
            <a:ext cx="1033272" cy="91440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 w="25400">
            <a:solidFill>
              <a:srgbClr val="FB8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6490" y="327355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068726" y="3639312"/>
            <a:ext cx="1124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 muốn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214470" y="3127248"/>
            <a:ext cx="1033272" cy="914400"/>
          </a:xfrm>
          <a:prstGeom prst="roundRect">
            <a:avLst>
              <a:gd name="adj" fmla="val 10000"/>
            </a:avLst>
          </a:prstGeom>
          <a:solidFill>
            <a:srgbClr val="13294B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514" y="3273552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168750" y="3639312"/>
            <a:ext cx="1124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 kiệm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914400" y="41148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“phong bì” danh mục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3154680" y="4407408"/>
            <a:ext cx="0" cy="182880"/>
          </a:xfrm>
          <a:prstGeom prst="line">
            <a:avLst/>
          </a:prstGeom>
          <a:noFill/>
          <a:ln w="25400">
            <a:solidFill>
              <a:srgbClr val="DBEAF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7"/>
          <p:cNvSpPr/>
          <p:nvPr/>
        </p:nvSpPr>
        <p:spPr>
          <a:xfrm>
            <a:off x="914400" y="4663440"/>
            <a:ext cx="4480560" cy="1097280"/>
          </a:xfrm>
          <a:prstGeom prst="roundRect">
            <a:avLst>
              <a:gd name="adj" fmla="val 10000"/>
            </a:avLst>
          </a:prstGeom>
          <a:solidFill>
            <a:srgbClr val="FB8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914400" y="4800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PHÂN BỔ (To Be Budgeted)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14400" y="50749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= 0đ</a:t>
            </a:r>
            <a:endParaRPr lang="en-US" sz="3400" dirty="0"/>
          </a:p>
        </p:txBody>
      </p:sp>
      <p:sp>
        <p:nvSpPr>
          <p:cNvPr id="26" name="Text 20"/>
          <p:cNvSpPr/>
          <p:nvPr/>
        </p:nvSpPr>
        <p:spPr>
          <a:xfrm>
            <a:off x="598932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HIỆU QUẢ?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989320" y="2194560"/>
            <a:ext cx="5532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6190488" y="2395728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189" y="2516429"/>
            <a:ext cx="261518" cy="26151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58000" y="2313432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Mỗi đồng đều có việc</a:t>
            </a:r>
            <a:endParaRPr lang="en-US" sz="1550" dirty="0"/>
          </a:p>
        </p:txBody>
      </p:sp>
      <p:sp>
        <p:nvSpPr>
          <p:cNvPr id="31" name="Text 24"/>
          <p:cNvSpPr/>
          <p:nvPr/>
        </p:nvSpPr>
        <p:spPr>
          <a:xfrm>
            <a:off x="6858000" y="2624328"/>
            <a:ext cx="4526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toàn bộ thu nhập đến khi về 0 — không còn khoản tiền vô định.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5989320" y="3182112"/>
            <a:ext cx="5532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6190488" y="3383280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B8C2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189" y="3503981"/>
            <a:ext cx="261518" cy="26151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58000" y="3300984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Quản lý theo phong bì</a:t>
            </a:r>
            <a:endParaRPr lang="en-US" sz="1550" dirty="0"/>
          </a:p>
        </p:txBody>
      </p:sp>
      <p:sp>
        <p:nvSpPr>
          <p:cNvPr id="36" name="Text 28"/>
          <p:cNvSpPr/>
          <p:nvPr/>
        </p:nvSpPr>
        <p:spPr>
          <a:xfrm>
            <a:off x="6858000" y="3611880"/>
            <a:ext cx="4526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danh mục có ngân sách riêng, dễ kiểm soát từng nhóm chi tiêu.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5989320" y="4169664"/>
            <a:ext cx="5532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0"/>
          <p:cNvSpPr/>
          <p:nvPr/>
        </p:nvSpPr>
        <p:spPr>
          <a:xfrm>
            <a:off x="6190488" y="4370832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22C55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1189" y="4491533"/>
            <a:ext cx="261518" cy="26151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858000" y="4288536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Cuốn chiếu sang tháng</a:t>
            </a:r>
            <a:endParaRPr lang="en-US" sz="1550" dirty="0"/>
          </a:p>
        </p:txBody>
      </p:sp>
      <p:sp>
        <p:nvSpPr>
          <p:cNvPr id="41" name="Text 32"/>
          <p:cNvSpPr/>
          <p:nvPr/>
        </p:nvSpPr>
        <p:spPr>
          <a:xfrm>
            <a:off x="6858000" y="4599432"/>
            <a:ext cx="4526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 mang sang tháng sau, bội chi tự trừ — kế hoạch luôn sát thực tế.</a:t>
            </a:r>
            <a:endParaRPr lang="en-US" sz="1150" dirty="0"/>
          </a:p>
        </p:txBody>
      </p:sp>
      <p:sp>
        <p:nvSpPr>
          <p:cNvPr id="42" name="Shape 33"/>
          <p:cNvSpPr/>
          <p:nvPr/>
        </p:nvSpPr>
        <p:spPr>
          <a:xfrm>
            <a:off x="5989320" y="5157216"/>
            <a:ext cx="553212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34"/>
          <p:cNvSpPr/>
          <p:nvPr/>
        </p:nvSpPr>
        <p:spPr>
          <a:xfrm>
            <a:off x="6190488" y="5358384"/>
            <a:ext cx="502920" cy="502920"/>
          </a:xfrm>
          <a:prstGeom prst="roundRect">
            <a:avLst>
              <a:gd name="adj" fmla="val 28000"/>
            </a:avLst>
          </a:prstGeom>
          <a:solidFill>
            <a:srgbClr val="FF6B6B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1189" y="5479085"/>
            <a:ext cx="261518" cy="26151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6858000" y="5276088"/>
            <a:ext cx="4480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Cảnh báo vượt phân bổ</a:t>
            </a:r>
            <a:endParaRPr lang="en-US" sz="1550" dirty="0"/>
          </a:p>
        </p:txBody>
      </p:sp>
      <p:sp>
        <p:nvSpPr>
          <p:cNvPr id="46" name="Text 36"/>
          <p:cNvSpPr/>
          <p:nvPr/>
        </p:nvSpPr>
        <p:spPr>
          <a:xfrm>
            <a:off x="6858000" y="5586984"/>
            <a:ext cx="4526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phân bổ quá thu nhập, app cảnh báo ngay nhưng không chặn bạn.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B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Tất cả trong một ứng dụng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1518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00784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Thu / chi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chép tức thì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9000" y="1554480"/>
            <a:ext cx="261518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29000" y="1700784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B8C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Ngân sách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429000" y="237744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ZBB phong bì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61518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1700784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2C55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Báo cáo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217920" y="237744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trực quan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6840" y="1554480"/>
            <a:ext cx="261518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006840" y="1700784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D4ED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Tiết kiệm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06840" y="2377440"/>
            <a:ext cx="2615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&amp; thử thách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E1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HƯỚNG ĐƠN GIẢN VỚI 5 TAB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2011680" cy="233172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88720" y="388620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4105656"/>
            <a:ext cx="475488" cy="47548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4983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Tổng quan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4008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862072" y="3611880"/>
            <a:ext cx="2011680" cy="233172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3410712" y="388620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0168" y="4105656"/>
            <a:ext cx="475488" cy="4754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862072" y="4983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Ngân sách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2862072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5084064" y="3611880"/>
            <a:ext cx="2011680" cy="2331720"/>
          </a:xfrm>
          <a:prstGeom prst="roundRect">
            <a:avLst>
              <a:gd name="adj" fmla="val 6364"/>
            </a:avLst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E1E4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5632704" y="388620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FB8C2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4105656"/>
            <a:ext cx="475488" cy="4754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084064" y="4983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Thêm</a:t>
            </a:r>
            <a:endParaRPr lang="en-US" sz="1700" dirty="0"/>
          </a:p>
        </p:txBody>
      </p:sp>
      <p:sp>
        <p:nvSpPr>
          <p:cNvPr id="31" name="Text 26"/>
          <p:cNvSpPr/>
          <p:nvPr/>
        </p:nvSpPr>
        <p:spPr>
          <a:xfrm>
            <a:off x="5084064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thêm giao dịch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306056" y="3611880"/>
            <a:ext cx="2011680" cy="233172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7854696" y="388620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152" y="4105656"/>
            <a:ext cx="475488" cy="4754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306056" y="4983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Báo cáo</a:t>
            </a:r>
            <a:endParaRPr lang="en-US" sz="1700" dirty="0"/>
          </a:p>
        </p:txBody>
      </p:sp>
      <p:sp>
        <p:nvSpPr>
          <p:cNvPr id="36" name="Text 30"/>
          <p:cNvSpPr/>
          <p:nvPr/>
        </p:nvSpPr>
        <p:spPr>
          <a:xfrm>
            <a:off x="7306056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528048" y="3611880"/>
            <a:ext cx="2011680" cy="233172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10076688" y="388620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6144" y="4105656"/>
            <a:ext cx="475488" cy="475488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528048" y="49834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Cá nhân</a:t>
            </a:r>
            <a:endParaRPr lang="en-US" sz="1700" dirty="0"/>
          </a:p>
        </p:txBody>
      </p:sp>
      <p:sp>
        <p:nvSpPr>
          <p:cNvPr id="41" name="Text 34"/>
          <p:cNvSpPr/>
          <p:nvPr/>
        </p:nvSpPr>
        <p:spPr>
          <a:xfrm>
            <a:off x="9528048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B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Giao dịch &amp; ví tiền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657600" cy="4434840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0E1E4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51760" y="-27432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965960"/>
            <a:ext cx="1188720" cy="1188720"/>
          </a:xfrm>
          <a:prstGeom prst="roundRect">
            <a:avLst>
              <a:gd name="adj" fmla="val 28000"/>
            </a:avLst>
          </a:prstGeom>
          <a:solidFill>
            <a:srgbClr val="1A2C55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13" y="2251253"/>
            <a:ext cx="618134" cy="6181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290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Dòng tiền</a:t>
            </a:r>
            <a:endParaRPr lang="en-US" sz="2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chính xác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thu/chi tức thì, số dư ví tự động cập nhật theo từng giao dịch.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0" y="1627632"/>
            <a:ext cx="6949440" cy="957834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28032" y="1941957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40680" y="177393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Thu &amp; chi linh hoạt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440680" y="2130552"/>
            <a:ext cx="5897880" cy="409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số tiền, chọn ví, danh mục, ngày, ghi chú — số dư cập nhật ngay.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0" y="2786634"/>
            <a:ext cx="6949440" cy="957834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28032" y="3100959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40680" y="293293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Đa ví tiền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440680" y="3289554"/>
            <a:ext cx="5897880" cy="409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Tiền mặt, ngân hàng, ví điện tử, tiết kiệm; lưu trữ thay vì xoá khi đã có giao dịch.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0" y="3945636"/>
            <a:ext cx="6949440" cy="957834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28032" y="4259961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40680" y="40919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Điều chỉnh có kiểm soát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5440680" y="4448556"/>
            <a:ext cx="5897880" cy="409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Nạp / chỉnh số dư kèm lý do, hệ thống ghi log đầy đủ.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72000" y="5104638"/>
            <a:ext cx="6949440" cy="957834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828032" y="5418963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40680" y="525094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Lọc &amp; tìm kiếm mạnh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440680" y="5607558"/>
            <a:ext cx="5897880" cy="409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theo loại, ví, số tiền, ngày và tìm kiếm nhanh trong lịch sử.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B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Ngân sách Zero-Based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657600" cy="4434840"/>
          </a:xfrm>
          <a:prstGeom prst="roundRect">
            <a:avLst>
              <a:gd name="adj" fmla="val 4000"/>
            </a:avLst>
          </a:prstGeom>
          <a:solidFill>
            <a:srgbClr val="FB8C2E"/>
          </a:solidFill>
          <a:ln/>
          <a:effectLst>
            <a:outerShdw blurRad="114300" dist="38100" dir="5400000" algn="bl" rotWithShape="0">
              <a:srgbClr val="0E1E4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51760" y="-27432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965960"/>
            <a:ext cx="1188720" cy="1188720"/>
          </a:xfrm>
          <a:prstGeom prst="roundRect">
            <a:avLst>
              <a:gd name="adj" fmla="val 28000"/>
            </a:avLst>
          </a:prstGeom>
          <a:solidFill>
            <a:srgbClr val="1A2C55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13" y="2251253"/>
            <a:ext cx="618134" cy="6181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290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Mỗi đồng</a:t>
            </a:r>
            <a:endParaRPr lang="en-US" sz="2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đều có việc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bổ toàn bộ thu nhập cho từng danh mục đến khi “Cần phân bổ” = 0.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0" y="1627632"/>
            <a:ext cx="6949440" cy="957834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28032" y="1941957"/>
            <a:ext cx="329184" cy="329184"/>
          </a:xfrm>
          <a:prstGeom prst="ellipse">
            <a:avLst/>
          </a:prstGeom>
          <a:solidFill>
            <a:srgbClr val="FB8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40680" y="177393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Phân bổ về 0 (Zero-Based)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440680" y="2130552"/>
            <a:ext cx="5897880" cy="409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hết thu nhập cho các danh mục — chủ động lập kế hoạch từ đầu tháng.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0" y="2786634"/>
            <a:ext cx="6949440" cy="957834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28032" y="3100959"/>
            <a:ext cx="329184" cy="329184"/>
          </a:xfrm>
          <a:prstGeom prst="ellipse">
            <a:avLst/>
          </a:prstGeom>
          <a:solidFill>
            <a:srgbClr val="FB8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40680" y="293293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Phong bì theo danh mục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440680" y="3289554"/>
            <a:ext cx="5897880" cy="409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danh mục là một phong bì có ngân sách và số dư riêng.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0" y="3945636"/>
            <a:ext cx="6949440" cy="957834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28032" y="4259961"/>
            <a:ext cx="329184" cy="329184"/>
          </a:xfrm>
          <a:prstGeom prst="ellipse">
            <a:avLst/>
          </a:prstGeom>
          <a:solidFill>
            <a:srgbClr val="FB8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40680" y="40919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Cuốn chiếu sang tháng (rollover)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5440680" y="4448556"/>
            <a:ext cx="5897880" cy="409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Dư mang sang tháng sau, bội chi tự trừ vào tháng kế tiếp.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72000" y="5104638"/>
            <a:ext cx="6949440" cy="957834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828032" y="5418963"/>
            <a:ext cx="329184" cy="329184"/>
          </a:xfrm>
          <a:prstGeom prst="ellipse">
            <a:avLst/>
          </a:prstGeom>
          <a:solidFill>
            <a:srgbClr val="FB8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40680" y="525094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Cảnh báo vượt phân bổ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440680" y="5607558"/>
            <a:ext cx="5897880" cy="409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phân bổ quá thu nhập, app cảnh báo ngay (To Be Budgeted âm).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B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Báo cáo &amp; biểu đồ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657600" cy="4434840"/>
          </a:xfrm>
          <a:prstGeom prst="roundRect">
            <a:avLst>
              <a:gd name="adj" fmla="val 4000"/>
            </a:avLst>
          </a:prstGeom>
          <a:solidFill>
            <a:srgbClr val="22C55E"/>
          </a:solidFill>
          <a:ln/>
          <a:effectLst>
            <a:outerShdw blurRad="114300" dist="38100" dir="5400000" algn="bl" rotWithShape="0">
              <a:srgbClr val="0E1E4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651760" y="-27432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965960"/>
            <a:ext cx="1188720" cy="1188720"/>
          </a:xfrm>
          <a:prstGeom prst="roundRect">
            <a:avLst>
              <a:gd name="adj" fmla="val 28000"/>
            </a:avLst>
          </a:prstGeom>
          <a:solidFill>
            <a:srgbClr val="1A2C55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13" y="2251253"/>
            <a:ext cx="618134" cy="6181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4290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Thấu hiểu</a:t>
            </a:r>
            <a:endParaRPr lang="en-US" sz="2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dòng tiền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14400" y="43434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Biểu đồ tương tác theo nhiều khoảng thời gian, ví và danh mục.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72000" y="1627632"/>
            <a:ext cx="6949440" cy="957834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28032" y="1941957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440680" y="177393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Biểu đồ tròn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440680" y="2130552"/>
            <a:ext cx="5897880" cy="409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 lệ chi tiêu theo từng danh mục trong kỳ đã chọn.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0" y="2786634"/>
            <a:ext cx="6949440" cy="957834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828032" y="3100959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40680" y="293293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Biểu đồ cột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440680" y="3289554"/>
            <a:ext cx="5897880" cy="409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thu – chi theo tuần / tháng / quý / năm.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0" y="3945636"/>
            <a:ext cx="6949440" cy="957834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28032" y="4259961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40680" y="40919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Bộ lọc đa chiều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5440680" y="4448556"/>
            <a:ext cx="5897880" cy="409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Lọc báo cáo theo khoảng thời gian, theo ví và theo danh mục.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572000" y="5104638"/>
            <a:ext cx="6949440" cy="957834"/>
          </a:xfrm>
          <a:prstGeom prst="roundRect">
            <a:avLst>
              <a:gd name="adj" fmla="val 954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828032" y="5418963"/>
            <a:ext cx="329184" cy="329184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440680" y="525094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Tổng quan trang chủ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440680" y="5607558"/>
            <a:ext cx="5897880" cy="4091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thu, tổng chi, số dư và xu hướng tóm tắt ngay đầu màn hình.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B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Tiết kiệm, định kỳ &amp; thử thách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630168" cy="4434840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3630168" cy="1371600"/>
          </a:xfrm>
          <a:prstGeom prst="roundRect">
            <a:avLst>
              <a:gd name="adj" fmla="val 933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630168" cy="4846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1874520"/>
            <a:ext cx="868680" cy="868680"/>
          </a:xfrm>
          <a:prstGeom prst="roundRect">
            <a:avLst>
              <a:gd name="adj" fmla="val 28000"/>
            </a:avLst>
          </a:prstGeom>
          <a:solidFill>
            <a:srgbClr val="1A2C55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" y="2083003"/>
            <a:ext cx="451714" cy="45171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193852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Mục tiêu tiết kiệm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50976" y="324612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số tiền cần đạt, deadline &amp; ví nguồn.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Đóng góp tự trừ ví và cộng vào tiến độ.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chuyển Hoàn thành / Quá hạn theo tiến độ.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53128" y="1627632"/>
            <a:ext cx="3630168" cy="4434840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453128" y="1627632"/>
            <a:ext cx="3630168" cy="1371600"/>
          </a:xfrm>
          <a:prstGeom prst="roundRect">
            <a:avLst>
              <a:gd name="adj" fmla="val 9333"/>
            </a:avLst>
          </a:prstGeom>
          <a:solidFill>
            <a:srgbClr val="FB8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453128" y="2514600"/>
            <a:ext cx="3630168" cy="484632"/>
          </a:xfrm>
          <a:prstGeom prst="rect">
            <a:avLst/>
          </a:prstGeom>
          <a:solidFill>
            <a:srgbClr val="FB8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745736" y="1874520"/>
            <a:ext cx="868680" cy="868680"/>
          </a:xfrm>
          <a:prstGeom prst="roundRect">
            <a:avLst>
              <a:gd name="adj" fmla="val 28000"/>
            </a:avLst>
          </a:prstGeom>
          <a:solidFill>
            <a:srgbClr val="1A2C55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4219" y="2083003"/>
            <a:ext cx="451714" cy="45171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79008" y="193852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Giao dịch định kỳ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764024" y="324612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kỳ ngày / tuần / tháng / năm.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tạo giao dịch khi đến hạn.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dừng khi qua ngày kết thúc.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266176" y="1627632"/>
            <a:ext cx="3630168" cy="4434840"/>
          </a:xfrm>
          <a:prstGeom prst="roundRect">
            <a:avLst>
              <a:gd name="adj" fmla="val 352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8266176" y="1627632"/>
            <a:ext cx="3630168" cy="1371600"/>
          </a:xfrm>
          <a:prstGeom prst="roundRect">
            <a:avLst>
              <a:gd name="adj" fmla="val 9333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66176" y="2514600"/>
            <a:ext cx="3630168" cy="48463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8558784" y="1874520"/>
            <a:ext cx="868680" cy="868680"/>
          </a:xfrm>
          <a:prstGeom prst="roundRect">
            <a:avLst>
              <a:gd name="adj" fmla="val 28000"/>
            </a:avLst>
          </a:prstGeom>
          <a:solidFill>
            <a:srgbClr val="1A2C55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7267" y="2083003"/>
            <a:ext cx="451714" cy="45171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592056" y="1938528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Thử thách tiết kiệm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8577072" y="324612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mục tiêu tiết kiệm theo số ngày.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dõi số ngày đã hoàn thành.</a:t>
            </a:r>
            <a:endParaRPr lang="en-US" sz="130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động lực duy trì thói quen tốt.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011680"/>
            <a:ext cx="5486400" cy="5486400"/>
          </a:xfrm>
          <a:prstGeom prst="ellipse">
            <a:avLst/>
          </a:prstGeom>
          <a:solidFill>
            <a:srgbClr val="1D4ED8">
              <a:alpha val="2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B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06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Bảo mật dữ liệu tài chính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2697480" cy="4160520"/>
          </a:xfrm>
          <a:prstGeom prst="roundRect">
            <a:avLst>
              <a:gd name="adj" fmla="val 4746"/>
            </a:avLst>
          </a:prstGeom>
          <a:solidFill>
            <a:srgbClr val="13294B"/>
          </a:solidFill>
          <a:ln w="12700">
            <a:solidFill>
              <a:srgbClr val="1D4ED8"/>
            </a:solidFill>
            <a:prstDash val="solid"/>
          </a:ln>
          <a:effectLst>
            <a:outerShdw blurRad="114300" dist="38100" dir="5400000" algn="bl" rotWithShape="0">
              <a:srgbClr val="0E1E4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18488" y="21488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FB8C2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4053" y="232440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Khóa PIN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36118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PIN 4–6 số được mã hóa an toàn, lưu trên thiết bị.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474720" y="1783080"/>
            <a:ext cx="2697480" cy="4160520"/>
          </a:xfrm>
          <a:prstGeom prst="roundRect">
            <a:avLst>
              <a:gd name="adj" fmla="val 4746"/>
            </a:avLst>
          </a:prstGeom>
          <a:solidFill>
            <a:srgbClr val="13294B"/>
          </a:solidFill>
          <a:ln w="12700">
            <a:solidFill>
              <a:srgbClr val="1D4ED8"/>
            </a:solidFill>
            <a:prstDash val="solid"/>
          </a:ln>
          <a:effectLst>
            <a:outerShdw blurRad="114300" dist="38100" dir="5400000" algn="bl" rotWithShape="0">
              <a:srgbClr val="0E1E4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453128" y="21488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FB8C2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693" y="232440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Sinh trắc học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730752" y="36118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khóa nhanh bằng vân tay hoặc khuôn mặt.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309360" y="1783080"/>
            <a:ext cx="2697480" cy="4160520"/>
          </a:xfrm>
          <a:prstGeom prst="roundRect">
            <a:avLst>
              <a:gd name="adj" fmla="val 4746"/>
            </a:avLst>
          </a:prstGeom>
          <a:solidFill>
            <a:srgbClr val="13294B"/>
          </a:solidFill>
          <a:ln w="12700">
            <a:solidFill>
              <a:srgbClr val="1D4ED8"/>
            </a:solidFill>
            <a:prstDash val="solid"/>
          </a:ln>
          <a:effectLst>
            <a:outerShdw blurRad="114300" dist="38100" dir="5400000" algn="bl" rotWithShape="0">
              <a:srgbClr val="0E1E4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287768" y="21488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FB8C2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333" y="232440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Dữ liệu riêng tư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565392" y="36118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người dùng chỉ truy cập được dữ liệu của chính mình.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144000" y="1783080"/>
            <a:ext cx="2697480" cy="4160520"/>
          </a:xfrm>
          <a:prstGeom prst="roundRect">
            <a:avLst>
              <a:gd name="adj" fmla="val 4746"/>
            </a:avLst>
          </a:prstGeom>
          <a:solidFill>
            <a:srgbClr val="13294B"/>
          </a:solidFill>
          <a:ln w="12700">
            <a:solidFill>
              <a:srgbClr val="1D4ED8"/>
            </a:solidFill>
            <a:prstDash val="solid"/>
          </a:ln>
          <a:effectLst>
            <a:outerShdw blurRad="114300" dist="38100" dir="5400000" algn="bl" rotWithShape="0">
              <a:srgbClr val="0E1E4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10122408" y="214884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FB8C2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7973" y="232440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3063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toàn &amp; minh bạch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9400032" y="3611880"/>
            <a:ext cx="21945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thay đổi số dư được xử lý an toàn và ghi log đầy đủ.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B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NĂNG 07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Cá nhân hóa &amp; trải nghiệm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21067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980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Đa ngôn ngữ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316382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Việt &amp; Tiếng Anh, đổi ngay trong ứng dụng.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27632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17720" y="192024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13294B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4258" y="21067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27980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Dark mode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17720" y="316382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Sáng / Tối / Theo hệ thống, đồng bộ toàn app.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627632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321040" y="192024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FB8C2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7578" y="210677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7980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Tùy chỉnh tiền tệ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321040" y="316382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Ký hiệu, vị trí và định dạng số tiền theo ý bạn.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867912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14400" y="416052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22C55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938" y="434705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0383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Nhắc nhở thông minh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914400" y="540410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Nhắc ghi chép chi tiêu hằng ngày đúng giờ.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3867912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17720" y="416052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1D4ED8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4258" y="4347058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17720" y="50383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Sao lưu &amp; khôi phục</a:t>
            </a:r>
            <a:endParaRPr lang="en-US" sz="1650" dirty="0"/>
          </a:p>
        </p:txBody>
      </p:sp>
      <p:sp>
        <p:nvSpPr>
          <p:cNvPr id="28" name="Text 21"/>
          <p:cNvSpPr/>
          <p:nvPr/>
        </p:nvSpPr>
        <p:spPr>
          <a:xfrm>
            <a:off x="4617720" y="540410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Xuất / nhập toàn bộ dữ liệu ra file an toàn.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46720" y="3867912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321040" y="4160520"/>
            <a:ext cx="777240" cy="777240"/>
          </a:xfrm>
          <a:prstGeom prst="roundRect">
            <a:avLst>
              <a:gd name="adj" fmla="val 28000"/>
            </a:avLst>
          </a:prstGeom>
          <a:solidFill>
            <a:srgbClr val="FF6B6B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7578" y="4347058"/>
            <a:ext cx="404165" cy="4041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21040" y="503834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Danh mục cha/con</a:t>
            </a:r>
            <a:endParaRPr lang="en-US" sz="1650" dirty="0"/>
          </a:p>
        </p:txBody>
      </p:sp>
      <p:sp>
        <p:nvSpPr>
          <p:cNvPr id="33" name="Text 25"/>
          <p:cNvSpPr/>
          <p:nvPr/>
        </p:nvSpPr>
        <p:spPr>
          <a:xfrm>
            <a:off x="8321040" y="5404104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mục mặc định + tự tạo, gom theo nhóm chi tiêu.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B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Công nghệ phía sau ứng dụng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Android gốc, dữ liệu đồng bộ đám mây thời gian thực và an toàn.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713232" cy="713232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576" y="2502896"/>
            <a:ext cx="370881" cy="3708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3865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Android (Java)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native, mượt trên điện thoại Android.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2057400"/>
            <a:ext cx="352044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17720" y="2331720"/>
            <a:ext cx="713232" cy="713232"/>
          </a:xfrm>
          <a:prstGeom prst="roundRect">
            <a:avLst>
              <a:gd name="adj" fmla="val 28000"/>
            </a:avLst>
          </a:prstGeom>
          <a:solidFill>
            <a:srgbClr val="FB8C2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896" y="2502896"/>
            <a:ext cx="370881" cy="37088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3865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Firebase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617720" y="31546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&amp; cơ sở dữ liệu đám mây thời gian thực.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46720" y="2057400"/>
            <a:ext cx="352044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21040" y="2331720"/>
            <a:ext cx="713232" cy="713232"/>
          </a:xfrm>
          <a:prstGeom prst="roundRect">
            <a:avLst>
              <a:gd name="adj" fmla="val 28000"/>
            </a:avLst>
          </a:prstGeom>
          <a:solidFill>
            <a:srgbClr val="22C55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2216" y="2502896"/>
            <a:ext cx="370881" cy="37088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89720" y="238658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MPAndroidChart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321040" y="31546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 viện biểu đồ tương tác, trực quan.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050792"/>
            <a:ext cx="352044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14400" y="4325112"/>
            <a:ext cx="713232" cy="713232"/>
          </a:xfrm>
          <a:prstGeom prst="roundRect">
            <a:avLst>
              <a:gd name="adj" fmla="val 28000"/>
            </a:avLst>
          </a:prstGeom>
          <a:solidFill>
            <a:srgbClr val="FF6B6B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576" y="4496288"/>
            <a:ext cx="370881" cy="37088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783080" y="437997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Mã hóa &amp; sinh trắc học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14400" y="51480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mã hóa + vân tay/khuôn mặt bảo vệ dữ liệu.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343400" y="4050792"/>
            <a:ext cx="352044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4617720" y="4325112"/>
            <a:ext cx="713232" cy="713232"/>
          </a:xfrm>
          <a:prstGeom prst="roundRect">
            <a:avLst>
              <a:gd name="adj" fmla="val 28000"/>
            </a:avLst>
          </a:prstGeom>
          <a:solidFill>
            <a:srgbClr val="1D4ED8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896" y="4496288"/>
            <a:ext cx="370881" cy="37088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486400" y="437997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Tác vụ nền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4617720" y="51480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chạy giao dịch định kỳ &amp; gửi nhắc nhở.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8046720" y="4050792"/>
            <a:ext cx="3520440" cy="181051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8321040" y="4325112"/>
            <a:ext cx="713232" cy="713232"/>
          </a:xfrm>
          <a:prstGeom prst="roundRect">
            <a:avLst>
              <a:gd name="adj" fmla="val 28000"/>
            </a:avLst>
          </a:prstGeom>
          <a:solidFill>
            <a:srgbClr val="2563EB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2216" y="4496288"/>
            <a:ext cx="370881" cy="37088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189720" y="437997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Xử lý an toàn (atomic)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8321040" y="5148072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thay đổi số dư chính xác, không sai lệch.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B8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Vì sao nên dùng ứng dụng này?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94960" cy="4434840"/>
          </a:xfrm>
          <a:prstGeom prst="roundRect">
            <a:avLst>
              <a:gd name="adj" fmla="val 288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96112" y="187452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22C55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7" y="20500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93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1E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Điểm mạnh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4892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sách Zero-Based: mỗi đồng đều có việc, chủ động kiểm soát.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Đầy đủ tính năng: thu chi, báo cáo, mục tiêu, thử thách, bảo mật.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✓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&amp; điểm sức khỏe tài chính giúp ra quyết định tốt hơn.</a:t>
            </a:r>
            <a:endParaRPr lang="en-US" sz="1400" dirty="0"/>
          </a:p>
          <a:p>
            <a:pPr marL="342900" indent="-342900">
              <a:lnSpc>
                <a:spcPct val="105000"/>
              </a:lnSpc>
              <a:buSzPct val="100000"/>
              <a:buChar char="✓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đẹp, dễ dùng, đa ngôn ngữ và có dark mode.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627632"/>
            <a:ext cx="5257800" cy="4434840"/>
          </a:xfrm>
          <a:prstGeom prst="roundRect">
            <a:avLst>
              <a:gd name="adj" fmla="val 2887"/>
            </a:avLst>
          </a:prstGeom>
          <a:solidFill>
            <a:srgbClr val="0E1E40"/>
          </a:solidFill>
          <a:ln/>
          <a:effectLst>
            <a:outerShdw blurRad="114300" dist="38100" dir="5400000" algn="bl" rotWithShape="0">
              <a:srgbClr val="0E1E40">
                <a:alpha val="14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19672" y="1874520"/>
            <a:ext cx="731520" cy="731520"/>
          </a:xfrm>
          <a:prstGeom prst="roundRect">
            <a:avLst>
              <a:gd name="adj" fmla="val 28000"/>
            </a:avLst>
          </a:prstGeom>
          <a:solidFill>
            <a:srgbClr val="FB8C2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237" y="205008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933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Hướng phát triển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37960" y="2834640"/>
            <a:ext cx="48006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soát số dư ví tự động.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đa thiết bị &amp; widget màn hình chính.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hóa đơn nhập liệu bằng OCR.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phân bổ ngân sách bằng AI.</a:t>
            </a:r>
            <a:endParaRPr lang="en-US" sz="14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Cuốn chiếu nhiều tháng &amp; báo cáo nâng cao.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E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943600" cy="5943600"/>
          </a:xfrm>
          <a:prstGeom prst="ellipse">
            <a:avLst/>
          </a:prstGeom>
          <a:solidFill>
            <a:srgbClr val="1D4ED8">
              <a:alpha val="2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3291840"/>
            <a:ext cx="5029200" cy="5029200"/>
          </a:xfrm>
          <a:prstGeom prst="ellipse">
            <a:avLst/>
          </a:prstGeom>
          <a:solidFill>
            <a:srgbClr val="FB8C2E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94960" y="1417320"/>
            <a:ext cx="1371600" cy="1371600"/>
          </a:xfrm>
          <a:prstGeom prst="roundRect">
            <a:avLst>
              <a:gd name="adj" fmla="val 28000"/>
            </a:avLst>
          </a:prstGeom>
          <a:solidFill>
            <a:srgbClr val="FB8C2E"/>
          </a:solidFill>
          <a:ln/>
          <a:effectLst>
            <a:outerShdw blurRad="88900" dist="25400" dir="5400000" algn="bl" rotWithShape="0">
              <a:srgbClr val="0E1E4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174650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632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CẢM ƠN ĐÃ LẮNG NGHE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Chi Tiêu — Lập ngân sách thông minh cùng Zero-Based Budgeting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709160"/>
            <a:ext cx="10360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mong nhận được góp ý của thầy/cô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184648" y="5440680"/>
            <a:ext cx="1828800" cy="548640"/>
          </a:xfrm>
          <a:prstGeom prst="roundRect">
            <a:avLst>
              <a:gd name="adj" fmla="val 50000"/>
            </a:avLst>
          </a:prstGeom>
          <a:solidFill>
            <a:srgbClr val="FB8C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84648" y="5440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 &amp; 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1343</Words>
  <Application>Microsoft Office PowerPoint</Application>
  <PresentationFormat>Widescreen</PresentationFormat>
  <Paragraphs>190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Quản Lý Chi Tiêu — Giới thiệu ứng dụng</dc:title>
  <dc:subject>PptxGenJS Presentation</dc:subject>
  <dc:creator>Tuấn</dc:creator>
  <cp:lastModifiedBy>Tô Thuỷ</cp:lastModifiedBy>
  <cp:revision>4</cp:revision>
  <dcterms:created xsi:type="dcterms:W3CDTF">2026-06-18T03:45:54Z</dcterms:created>
  <dcterms:modified xsi:type="dcterms:W3CDTF">2026-06-18T04:51:24Z</dcterms:modified>
</cp:coreProperties>
</file>